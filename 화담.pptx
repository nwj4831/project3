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59" r:id="rId5"/>
    <p:sldId id="262" r:id="rId6"/>
    <p:sldId id="263" r:id="rId7"/>
    <p:sldId id="264" r:id="rId8"/>
    <p:sldId id="265" r:id="rId9"/>
    <p:sldId id="266" r:id="rId10"/>
    <p:sldId id="283" r:id="rId11"/>
    <p:sldId id="282" r:id="rId12"/>
  </p:sldIdLst>
  <p:sldSz cx="18288000" cy="10287000"/>
  <p:notesSz cx="6858000" cy="9144000"/>
  <p:embeddedFontLst>
    <p:embeddedFont>
      <p:font typeface="Nanum DdarEGeEomMaGa" panose="020B0600000101010101" charset="-127"/>
      <p:regular r:id="rId14"/>
    </p:embeddedFont>
    <p:embeddedFont>
      <p:font typeface="NanumSquareRoundOTF ExtraBold" panose="020B0600000101010101" charset="-127"/>
      <p:bold r:id="rId15"/>
    </p:embeddedFont>
    <p:embeddedFont>
      <p:font typeface="NanumSquareRoundOTF Light" panose="020B0600000101010101" charset="-127"/>
      <p:regular r:id="rId16"/>
    </p:embeddedFont>
    <p:embeddedFont>
      <p:font typeface="NanumSquareRoundOTF Regular" panose="020B0600000101010101" charset="-127"/>
      <p:regular r:id="rId17"/>
    </p:embeddedFont>
    <p:embeddedFont>
      <p:font typeface="Rounded Mplus 1c Bold" panose="020B0600000101010101" charset="-128"/>
      <p:bold r:id="rId18"/>
    </p:embeddedFont>
    <p:embeddedFont>
      <p:font typeface="THEBlackjackB" panose="020B0600000101010101" charset="-127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0" autoAdjust="0"/>
    <p:restoredTop sz="85000" autoAdjust="0"/>
  </p:normalViewPr>
  <p:slideViewPr>
    <p:cSldViewPr>
      <p:cViewPr varScale="1">
        <p:scale>
          <a:sx n="63" d="100"/>
          <a:sy n="63" d="100"/>
        </p:scale>
        <p:origin x="94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D5C8D-E2CF-4CDF-8C30-02966E9CC8D3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9A4CB-9B95-4FC8-99BA-0E87A72802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68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9A4CB-9B95-4FC8-99BA-0E87A728024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38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g1jw7lEYNNo" TargetMode="Externa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1700" y="-1562100"/>
            <a:ext cx="19240500" cy="1202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5100" y="-165100"/>
            <a:ext cx="8623300" cy="11036300"/>
          </a:xfrm>
          <a:prstGeom prst="rect">
            <a:avLst/>
          </a:prstGeom>
          <a:effectLst>
            <a:outerShdw blurRad="1202230" dist="66300" dir="2700000">
              <a:srgbClr val="A32E21">
                <a:alpha val="36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4559300" y="5626100"/>
            <a:ext cx="8712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050"/>
              </a:lnSpc>
            </a:pPr>
            <a:r>
              <a:rPr lang="en-US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~ </a:t>
            </a:r>
            <a:r>
              <a:rPr lang="ko-KR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그린컴퓨터아카데미</a:t>
            </a:r>
            <a:r>
              <a:rPr lang="en-US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~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19650" y="457200"/>
            <a:ext cx="26250900" cy="9791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5219700" y="8851900"/>
            <a:ext cx="7404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노왕주</a:t>
            </a:r>
            <a:r>
              <a:rPr lang="en-US" sz="24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이경준</a:t>
            </a:r>
            <a:r>
              <a:rPr lang="en-US" sz="24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서영수</a:t>
            </a:r>
            <a:r>
              <a:rPr lang="en-US" sz="24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강지영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00" y="8001000"/>
            <a:ext cx="546100" cy="546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305800" y="7950200"/>
            <a:ext cx="5461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3400" b="0" i="0" u="none" strike="noStrike" spc="700">
                <a:solidFill>
                  <a:srgbClr val="F6A8A2"/>
                </a:solidFill>
                <a:latin typeface="NanumSquareRoundOTF ExtraBold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90000" y="7937500"/>
            <a:ext cx="723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sz="3800" b="0" i="0" u="none" strike="noStrike" spc="800">
                <a:solidFill>
                  <a:srgbClr val="1D364A"/>
                </a:solidFill>
                <a:ea typeface="NanumSquareRoundOTF ExtraBold"/>
              </a:rPr>
              <a:t>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00150"/>
            <a:ext cx="18516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925" y="2921000"/>
            <a:ext cx="3467100" cy="609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625" y="2921000"/>
            <a:ext cx="3467100" cy="609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325" y="2921000"/>
            <a:ext cx="3467100" cy="6096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2105024" y="9085764"/>
            <a:ext cx="13106401" cy="103772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25" y="9029700"/>
            <a:ext cx="215900" cy="21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225" y="9029700"/>
            <a:ext cx="215900" cy="215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7925" y="9029700"/>
            <a:ext cx="215900" cy="215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387725" y="5664200"/>
            <a:ext cx="2857500" cy="176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140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주제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선정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및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배경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,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기획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의도</a:t>
            </a:r>
          </a:p>
          <a:p>
            <a:pPr lvl="0" algn="ctr">
              <a:lnSpc>
                <a:spcPct val="131140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프로젝트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내용</a:t>
            </a:r>
          </a:p>
          <a:p>
            <a:pPr lvl="0" algn="ctr">
              <a:lnSpc>
                <a:spcPct val="131140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개발환경</a:t>
            </a:r>
          </a:p>
          <a:p>
            <a:pPr lvl="0" algn="ctr">
              <a:lnSpc>
                <a:spcPct val="131140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프로젝트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구조</a:t>
            </a:r>
          </a:p>
          <a:p>
            <a:pPr lvl="0" algn="ctr">
              <a:lnSpc>
                <a:spcPct val="131140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활용방안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및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기대효과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52825" y="4927600"/>
            <a:ext cx="251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140"/>
              </a:lnSpc>
            </a:pPr>
            <a:r>
              <a:rPr lang="ko-KR" sz="2500" b="0" i="0" u="none" strike="noStrike">
                <a:solidFill>
                  <a:srgbClr val="1D364A"/>
                </a:solidFill>
                <a:ea typeface="NanumSquareRoundOTF ExtraBold"/>
              </a:rPr>
              <a:t>프로젝트</a:t>
            </a:r>
            <a:r>
              <a:rPr lang="en-US" sz="25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500" b="0" i="0" u="none" strike="noStrike">
                <a:solidFill>
                  <a:srgbClr val="1D364A"/>
                </a:solidFill>
                <a:ea typeface="NanumSquareRoundOTF ExtraBold"/>
              </a:rPr>
              <a:t>개요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6325" y="4171950"/>
            <a:ext cx="469900" cy="596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305675" y="4972050"/>
            <a:ext cx="29210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140"/>
              </a:lnSpc>
            </a:pPr>
            <a:r>
              <a:rPr lang="ko-KR" sz="2500" b="0" i="0" u="none" strike="noStrike" dirty="0">
                <a:solidFill>
                  <a:srgbClr val="1D364A"/>
                </a:solidFill>
                <a:ea typeface="NanumSquareRoundOTF ExtraBold"/>
              </a:rPr>
              <a:t>사용자</a:t>
            </a:r>
            <a:r>
              <a:rPr lang="en-US" sz="2500" b="0" i="0" u="none" strike="noStrike" dirty="0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500" b="0" i="0" u="none" strike="noStrike" dirty="0">
                <a:solidFill>
                  <a:srgbClr val="1D364A"/>
                </a:solidFill>
                <a:ea typeface="NanumSquareRoundOTF ExtraBold"/>
              </a:rPr>
              <a:t>시나리오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200" y="4140200"/>
            <a:ext cx="736600" cy="558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483975" y="4984750"/>
            <a:ext cx="25146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140"/>
              </a:lnSpc>
            </a:pPr>
            <a:r>
              <a:rPr lang="ko-KR" sz="2500" b="0" i="0" u="none" strike="noStrike" dirty="0">
                <a:solidFill>
                  <a:srgbClr val="1D364A"/>
                </a:solidFill>
                <a:ea typeface="NanumSquareRoundOTF ExtraBold"/>
              </a:rPr>
              <a:t>팀</a:t>
            </a:r>
            <a:r>
              <a:rPr lang="en-US" sz="2500" b="0" i="0" u="none" strike="noStrike" dirty="0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500" b="0" i="0" u="none" strike="noStrike" dirty="0">
                <a:solidFill>
                  <a:srgbClr val="1D364A"/>
                </a:solidFill>
                <a:ea typeface="NanumSquareRoundOTF ExtraBold"/>
              </a:rPr>
              <a:t>구성</a:t>
            </a:r>
            <a:r>
              <a:rPr lang="en-US" sz="2500" b="0" i="0" u="none" strike="noStrike" dirty="0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500" b="0" i="0" u="none" strike="noStrike" dirty="0">
                <a:solidFill>
                  <a:srgbClr val="1D364A"/>
                </a:solidFill>
                <a:ea typeface="NanumSquareRoundOTF ExtraBold"/>
              </a:rPr>
              <a:t>및</a:t>
            </a:r>
            <a:r>
              <a:rPr lang="en-US" sz="2500" b="0" i="0" u="none" strike="noStrike" dirty="0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500" b="0" i="0" u="none" strike="noStrike" dirty="0">
                <a:solidFill>
                  <a:srgbClr val="1D364A"/>
                </a:solidFill>
                <a:ea typeface="NanumSquareRoundOTF ExtraBold"/>
              </a:rPr>
              <a:t>역</a:t>
            </a:r>
            <a:r>
              <a:rPr lang="ko-KR" altLang="en-US" sz="2500" b="0" i="0" u="none" strike="noStrike" dirty="0">
                <a:solidFill>
                  <a:srgbClr val="1D364A"/>
                </a:solidFill>
                <a:ea typeface="NanumSquareRoundOTF ExtraBold"/>
              </a:rPr>
              <a:t>할</a:t>
            </a:r>
            <a:endParaRPr lang="ko-KR" sz="2500" b="0" i="0" u="none" strike="noStrike" dirty="0">
              <a:solidFill>
                <a:srgbClr val="1D364A"/>
              </a:solidFill>
              <a:ea typeface="NanumSquareRoundOTF ExtraBold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375" y="4140200"/>
            <a:ext cx="596900" cy="596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1312525" y="6019800"/>
            <a:ext cx="2857500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140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해당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프로젝트를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진행하며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훈련생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별로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주도적으로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참여한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부분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69175" y="6254750"/>
            <a:ext cx="28575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1140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프로젝트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결과물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사용자입장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시나리오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429000" y="-247650"/>
            <a:ext cx="22644100" cy="6083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-12065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2438400"/>
            <a:ext cx="6172200" cy="3022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300" y="2247900"/>
            <a:ext cx="6172200" cy="3429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13200" y="-457200"/>
            <a:ext cx="23774400" cy="5981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000" y="5842000"/>
            <a:ext cx="6731000" cy="1993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기기에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대한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접근성이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부족한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 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노인들을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위해</a:t>
            </a:r>
          </a:p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데스크탑에서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사용하는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웹이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아닌</a:t>
            </a:r>
          </a:p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휴대폰에서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사용하는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앱을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구현하고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Front end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에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적합한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툴이기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때문에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채택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21800" y="5842000"/>
            <a:ext cx="7467600" cy="2501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BaaS(Backend as a Service)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플랫폼으로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,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 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오픈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소스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기반에서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작동하며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백엔드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기능을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구축할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수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있도록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도와주고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, 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PostgreSQL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기반이기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때문에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Serverless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애플리케이션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구현에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적합하여</a:t>
            </a:r>
            <a:r>
              <a:rPr lang="en-US" sz="2800" b="0" i="0" u="none" strike="noStrike">
                <a:solidFill>
                  <a:srgbClr val="1D364A"/>
                </a:solidFill>
                <a:latin typeface="NanumSquareRoundOTF ExtraBold"/>
              </a:rPr>
              <a:t> </a:t>
            </a:r>
            <a:r>
              <a:rPr lang="ko-KR" sz="2800" b="0" i="0" u="none" strike="noStrike">
                <a:solidFill>
                  <a:srgbClr val="1D364A"/>
                </a:solidFill>
                <a:ea typeface="NanumSquareRoundOTF ExtraBold"/>
              </a:rPr>
              <a:t>채택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-11811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57" y="2072656"/>
            <a:ext cx="5088543" cy="161235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5854700"/>
            <a:ext cx="4965700" cy="386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300" y="2349500"/>
            <a:ext cx="8496300" cy="768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0" y="3594100"/>
            <a:ext cx="2044700" cy="208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9200" y="6019800"/>
            <a:ext cx="4330700" cy="2882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0" y="3987800"/>
            <a:ext cx="40005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22100" y="4089400"/>
            <a:ext cx="762000" cy="800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49400" y="4000190"/>
            <a:ext cx="6095999" cy="168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코로나로의 전염병 확산을 막기 위해 사회적 거리두기</a:t>
            </a:r>
            <a:r>
              <a:rPr lang="en-US" altLang="ko-KR" sz="20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, </a:t>
            </a:r>
            <a:r>
              <a:rPr lang="ko-KR" altLang="en-US" sz="20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자가격리 등 물리적 접촉을 줄였습니다</a:t>
            </a:r>
            <a:r>
              <a:rPr lang="en-US" altLang="ko-KR" sz="20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. 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000" b="0" i="0" u="none" strike="noStrike" spc="-100" dirty="0" err="1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이로인해</a:t>
            </a:r>
            <a:r>
              <a:rPr lang="ko-KR" altLang="en-US" sz="20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 고령층의 사회적 고립과 디지털 격차 문제를 더욱 부각시켰으며</a:t>
            </a:r>
            <a:r>
              <a:rPr lang="en-US" altLang="ko-KR" sz="20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,  </a:t>
            </a:r>
            <a:r>
              <a:rPr lang="ko-KR" altLang="en-US" sz="2000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이를 해소하기 위한 시니어</a:t>
            </a:r>
            <a:r>
              <a:rPr lang="en-US" altLang="ko-KR" sz="2000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SNS </a:t>
            </a:r>
            <a:r>
              <a:rPr lang="ko-KR" altLang="en-US" sz="2000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개발의 필요성이 높아졌습니다</a:t>
            </a:r>
            <a:r>
              <a:rPr lang="en-US" altLang="ko-KR" sz="2000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.</a:t>
            </a:r>
            <a:endParaRPr lang="en-US" sz="2000" b="0" i="0" u="none" strike="noStrike" spc="-100" dirty="0">
              <a:solidFill>
                <a:srgbClr val="1D364A"/>
              </a:solidFill>
              <a:latin typeface="NanumSquareRoundOTF Regular"/>
              <a:ea typeface="NanumSquareRoundOTF Regular" panose="020B0600000101010101" charset="-127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191000" y="-527050"/>
            <a:ext cx="22923500" cy="5981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09157" y="1987396"/>
            <a:ext cx="4949825" cy="16377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900" b="0" i="0" u="none" strike="noStrike" dirty="0">
                <a:solidFill>
                  <a:srgbClr val="1D364A"/>
                </a:solidFill>
                <a:latin typeface="Nanum DdarEGeEomMaGa"/>
              </a:rPr>
              <a:t>"</a:t>
            </a:r>
            <a:r>
              <a:rPr lang="ko-KR" sz="3900" b="0" i="0" u="none" strike="noStrike" dirty="0">
                <a:solidFill>
                  <a:srgbClr val="1D364A"/>
                </a:solidFill>
                <a:ea typeface="Nanum DdarEGeEomMaGa"/>
              </a:rPr>
              <a:t>화담은</a:t>
            </a:r>
          </a:p>
          <a:p>
            <a:pPr lvl="0" algn="ctr">
              <a:lnSpc>
                <a:spcPct val="116199"/>
              </a:lnSpc>
            </a:pPr>
            <a:r>
              <a:rPr lang="en-US" sz="3900" b="0" i="0" u="none" strike="noStrike" dirty="0">
                <a:solidFill>
                  <a:srgbClr val="1D364A"/>
                </a:solidFill>
                <a:latin typeface="Nanum DdarEGeEomMaGa"/>
              </a:rPr>
              <a:t>'</a:t>
            </a:r>
            <a:r>
              <a:rPr lang="ko-KR" sz="3900" b="0" i="0" u="none" strike="noStrike" dirty="0">
                <a:solidFill>
                  <a:srgbClr val="1D364A"/>
                </a:solidFill>
                <a:ea typeface="Nanum DdarEGeEomMaGa"/>
              </a:rPr>
              <a:t>시니어</a:t>
            </a:r>
            <a:r>
              <a:rPr lang="en-US" sz="3900" b="0" i="0" u="none" strike="noStrike" dirty="0">
                <a:solidFill>
                  <a:srgbClr val="1D364A"/>
                </a:solidFill>
                <a:latin typeface="Nanum DdarEGeEomMaGa"/>
              </a:rPr>
              <a:t> SNS' </a:t>
            </a:r>
            <a:r>
              <a:rPr lang="ko-KR" sz="3900" b="0" i="0" u="none" strike="noStrike" dirty="0">
                <a:solidFill>
                  <a:srgbClr val="1D364A"/>
                </a:solidFill>
                <a:ea typeface="Nanum DdarEGeEomMaGa"/>
              </a:rPr>
              <a:t>입니다</a:t>
            </a:r>
            <a:r>
              <a:rPr lang="en-US" sz="3900" b="0" i="0" u="none" strike="noStrike" dirty="0">
                <a:solidFill>
                  <a:srgbClr val="1D364A"/>
                </a:solidFill>
                <a:latin typeface="Nanum DdarEGeEomMaGa"/>
              </a:rPr>
              <a:t>."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33600" y="7277100"/>
            <a:ext cx="4711700" cy="168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1900" b="0" i="0" u="none" strike="noStrike" dirty="0">
                <a:solidFill>
                  <a:srgbClr val="1D364A"/>
                </a:solidFill>
                <a:ea typeface="NanumSquareRoundOTF Light"/>
              </a:rPr>
              <a:t>시니어 </a:t>
            </a:r>
            <a:r>
              <a:rPr lang="en-US" altLang="ko-KR" sz="1900" b="0" i="0" u="none" strike="noStrike" dirty="0">
                <a:solidFill>
                  <a:srgbClr val="1D364A"/>
                </a:solidFill>
                <a:ea typeface="NanumSquareRoundOTF Light"/>
              </a:rPr>
              <a:t>SNS</a:t>
            </a:r>
            <a:r>
              <a:rPr lang="ko-KR" altLang="en-US" sz="1900" b="0" i="0" u="none" strike="noStrike" dirty="0">
                <a:solidFill>
                  <a:srgbClr val="1D364A"/>
                </a:solidFill>
                <a:ea typeface="NanumSquareRoundOTF Light"/>
              </a:rPr>
              <a:t>는 고령층의 사회적 고립을 완화하고</a:t>
            </a:r>
            <a:r>
              <a:rPr lang="en-US" altLang="ko-KR" sz="1900" b="0" i="0" u="none" strike="noStrike" dirty="0">
                <a:solidFill>
                  <a:srgbClr val="1D364A"/>
                </a:solidFill>
                <a:ea typeface="NanumSquareRoundOTF Light"/>
              </a:rPr>
              <a:t>,</a:t>
            </a:r>
            <a:r>
              <a:rPr lang="ko-KR" altLang="en-US" sz="1900" dirty="0">
                <a:solidFill>
                  <a:srgbClr val="1D364A"/>
                </a:solidFill>
                <a:latin typeface="NanumSquareRoundOTF Light"/>
                <a:ea typeface="NanumSquareRoundOTF Light"/>
              </a:rPr>
              <a:t>사회와의 단절을 극복하며 현대사회에서 더 적극적으로 소통하는 것을</a:t>
            </a:r>
            <a:br>
              <a:rPr lang="en-US" altLang="ko-KR" sz="1900" dirty="0">
                <a:solidFill>
                  <a:srgbClr val="1D364A"/>
                </a:solidFill>
                <a:latin typeface="NanumSquareRoundOTF Light"/>
                <a:ea typeface="NanumSquareRoundOTF Light"/>
              </a:rPr>
            </a:br>
            <a:r>
              <a:rPr lang="ko-KR" altLang="en-US" sz="1900" dirty="0">
                <a:solidFill>
                  <a:srgbClr val="1D364A"/>
                </a:solidFill>
                <a:latin typeface="NanumSquareRoundOTF Light"/>
                <a:ea typeface="NanumSquareRoundOTF Light"/>
              </a:rPr>
              <a:t>목표로 합니다</a:t>
            </a:r>
            <a:r>
              <a:rPr lang="en-US" altLang="ko-KR" sz="1900" dirty="0">
                <a:solidFill>
                  <a:srgbClr val="1D364A"/>
                </a:solidFill>
                <a:latin typeface="NanumSquareRoundOTF Light"/>
                <a:ea typeface="NanumSquareRoundOTF Light"/>
              </a:rPr>
              <a:t>.</a:t>
            </a:r>
            <a:endParaRPr lang="en-US" altLang="ko-KR" sz="1900" b="0" i="0" u="none" strike="noStrike" dirty="0">
              <a:solidFill>
                <a:srgbClr val="1D364A"/>
              </a:solidFill>
              <a:ea typeface="NanumSquareRoundOTF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-11938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400" y="6769100"/>
            <a:ext cx="2590800" cy="295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1841500"/>
            <a:ext cx="1282700" cy="2768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8500" y="1612900"/>
            <a:ext cx="3327400" cy="427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43400" y="-387350"/>
            <a:ext cx="23850600" cy="5981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21150" y="2482850"/>
            <a:ext cx="116713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050"/>
              </a:lnSpc>
            </a:pP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~ '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화담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'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을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통해서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디지털과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친해지기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 ~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97500" y="7327900"/>
            <a:ext cx="9118600" cy="189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‘</a:t>
            </a:r>
            <a:r>
              <a:rPr lang="ko-KR" altLang="en-US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화담</a:t>
            </a:r>
            <a:r>
              <a:rPr lang="en-US" alt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’</a:t>
            </a:r>
            <a:r>
              <a:rPr lang="ko-KR" altLang="en-US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은 매일 또는 필요할 때마다 어르신들이 자신의 일상을 공유하거나 다른 사람들과 소통하고 싶은 순간에 방문하여</a:t>
            </a:r>
            <a:r>
              <a:rPr lang="en-US" alt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, 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700" b="0" i="0" u="none" strike="noStrike" spc="-100" dirty="0">
                <a:solidFill>
                  <a:srgbClr val="1D364A"/>
                </a:solidFill>
                <a:highlight>
                  <a:srgbClr val="FFFF00"/>
                </a:highlight>
                <a:ea typeface="NanumSquareRoundOTF Regular"/>
              </a:rPr>
              <a:t>자신의 생각과 경험을 자유롭게 기록할 수 있는 공간입니다</a:t>
            </a:r>
            <a:r>
              <a:rPr lang="en-US" altLang="ko-KR" sz="2700" b="0" i="0" u="none" strike="noStrike" spc="-100" dirty="0">
                <a:solidFill>
                  <a:srgbClr val="1D364A"/>
                </a:solidFill>
                <a:highlight>
                  <a:srgbClr val="FFFF00"/>
                </a:highlight>
                <a:ea typeface="NanumSquareRoundOTF Regular"/>
              </a:rPr>
              <a:t>.</a:t>
            </a:r>
            <a:endParaRPr lang="en-US" sz="2700" b="0" i="0" u="none" strike="noStrike" spc="-100" dirty="0">
              <a:solidFill>
                <a:srgbClr val="1D364A"/>
              </a:solidFill>
              <a:highlight>
                <a:srgbClr val="FFFF00"/>
              </a:highlight>
              <a:latin typeface="NanumSquareRoundOTF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895850" y="3721100"/>
            <a:ext cx="11214100" cy="284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디지털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기기에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익숙하신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분들은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‘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화담</a:t>
            </a:r>
            <a:r>
              <a:rPr lang="en-US" alt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’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에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접속하여 간단한 회원가입 절차를 거친 후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,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자유롭게 이야기를 작성 할 수 있습니다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.</a:t>
            </a:r>
            <a:b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</a:b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반면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,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디지털 기기 사용이 낯선 어르신들께서는 노인정과 협력을 통하여</a:t>
            </a:r>
            <a:b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</a:b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사용 방법을 안내해드립니다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.</a:t>
            </a:r>
            <a:b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</a:b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어르신들이 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‘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화담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’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기능을 사용하면서 자연스럽게 디지털 기기에 익숙해질 수 있는 기회를 제공합니다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.</a:t>
            </a:r>
            <a:endParaRPr lang="ko-KR" sz="2700" b="0" i="0" u="none" strike="noStrike" spc="-100" dirty="0">
              <a:solidFill>
                <a:srgbClr val="1D364A"/>
              </a:solidFill>
              <a:ea typeface="NanumSquareRoundOTF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-11938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900" y="6958051"/>
            <a:ext cx="2590800" cy="295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" y="5448300"/>
            <a:ext cx="14541500" cy="152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3009900"/>
            <a:ext cx="2374900" cy="129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1100" y="6985000"/>
            <a:ext cx="1562100" cy="156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114800" y="-869950"/>
            <a:ext cx="23850600" cy="5981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3946" y="1801232"/>
            <a:ext cx="12090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050"/>
              </a:lnSpc>
            </a:pP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~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일상을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공유하여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소소한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수익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챙기기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 ~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35500" y="2755900"/>
            <a:ext cx="10210800" cy="2374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어르신들은 자신의 이야기를 자유롭게 공유하는 과정에서 작성한 글과 다른 사람들의 댓글을 통해 꾸준히 마일리지를 적립하게 됩니다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.</a:t>
            </a:r>
            <a:b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</a:br>
            <a:r>
              <a:rPr lang="ko-KR" altLang="en-US" sz="27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이렇게 적립된 마일리지는 매달 현금으로 환급되어 어르신들에게 지급되며</a:t>
            </a:r>
            <a:r>
              <a:rPr lang="en-US" altLang="ko-KR" sz="27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, </a:t>
            </a:r>
            <a:r>
              <a:rPr lang="ko-KR" altLang="en-US" sz="27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사용자의 웹사이트 방문과 책구매를 통해 발생하는 수익의 일부를 </a:t>
            </a:r>
            <a:r>
              <a:rPr lang="en-US" altLang="ko-KR" sz="27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‘</a:t>
            </a:r>
            <a:r>
              <a:rPr lang="ko-KR" altLang="en-US" sz="2700" b="0" i="0" u="none" strike="noStrike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화담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’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 panose="020B0600000101010101" charset="-127"/>
              </a:rPr>
              <a:t>을 이용하는 어르신들에게 환원하는 프로그램입니다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</a:rPr>
              <a:t>.</a:t>
            </a:r>
            <a:endParaRPr lang="en-US" sz="2700" b="0" i="0" u="none" strike="noStrike" spc="-100" dirty="0">
              <a:solidFill>
                <a:srgbClr val="1D364A"/>
              </a:solidFill>
              <a:latin typeface="NanumSquareRoundOTF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629924" y="7169770"/>
            <a:ext cx="101092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화담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＇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에서는 매년 가장 인기 있는 일기를 작성한 어르신들을 선정하여</a:t>
            </a:r>
            <a:b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</a:b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그들의 글을 모아 책으로 제작해드립니다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.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이렇게 만들어진 책은 어르신들에게 전달되며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,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또한 사용자들에게 상품으로 만들어 판매할 수 있는 기회를 제공합니다</a:t>
            </a:r>
            <a:r>
              <a:rPr lang="en-US" altLang="ko-KR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.</a:t>
            </a:r>
            <a:endParaRPr lang="en-US" sz="2700" b="0" i="0" u="none" strike="noStrike" spc="-100" dirty="0">
              <a:solidFill>
                <a:srgbClr val="1D364A"/>
              </a:solidFill>
              <a:latin typeface="NanumSquareRoundOTF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46087" y="6132551"/>
            <a:ext cx="11836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050"/>
              </a:lnSpc>
            </a:pP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~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꾸준히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쓴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글이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모여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책으로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</a:t>
            </a:r>
            <a:r>
              <a:rPr lang="ko-KR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출판</a:t>
            </a:r>
            <a:r>
              <a:rPr lang="en-US" sz="3800" b="0" i="0" u="none" strike="noStrike" spc="700" dirty="0">
                <a:solidFill>
                  <a:srgbClr val="A32E21"/>
                </a:solidFill>
                <a:latin typeface="NanumSquareRoundOTF Regular" panose="020B0600000101010101" charset="-127"/>
                <a:ea typeface="NanumSquareRoundOTF Regular" panose="020B0600000101010101" charset="-127"/>
              </a:rPr>
              <a:t> ! ~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-11938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425700"/>
            <a:ext cx="14592300" cy="7010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638300" y="5880100"/>
            <a:ext cx="14541500" cy="8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5410200" y="5854700"/>
            <a:ext cx="6972300" cy="8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800" y="3937000"/>
            <a:ext cx="3975100" cy="3987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594600" y="6350000"/>
            <a:ext cx="977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3900" b="0" i="0" u="none" strike="noStrike">
                <a:solidFill>
                  <a:srgbClr val="F6A8A2"/>
                </a:solidFill>
                <a:latin typeface="NanumSquareRoundOTF Extra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32900" y="6362700"/>
            <a:ext cx="977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3900" b="0" i="0" u="none" strike="noStrike">
                <a:solidFill>
                  <a:srgbClr val="1D364A"/>
                </a:solidFill>
                <a:latin typeface="NanumSquareRoundOTF ExtraBold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94600" y="4787900"/>
            <a:ext cx="977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3900" b="0" i="0" u="none" strike="noStrike">
                <a:solidFill>
                  <a:srgbClr val="1D364A"/>
                </a:solidFill>
                <a:latin typeface="NanumSquareRoundOTF Extra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2900" y="4787900"/>
            <a:ext cx="977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3900" b="0" i="0" u="none" strike="noStrike">
                <a:solidFill>
                  <a:srgbClr val="F6A8A2"/>
                </a:solidFill>
                <a:latin typeface="NanumSquareRoundOTF Extra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36800" y="3416300"/>
            <a:ext cx="44069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01.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노인분들의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'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비대면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소통의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장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'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마련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5500" y="4191000"/>
            <a:ext cx="42164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화담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디지털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기기를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 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통해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이루어지며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,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디지털에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익숙하지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않은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분들에게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사전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교육을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제공합니다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14600" y="4191000"/>
            <a:ext cx="42164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외출할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기회가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많지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않은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노인분들도</a:t>
            </a:r>
          </a:p>
          <a:p>
            <a:pPr lvl="0" algn="r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화담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통해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간편히</a:t>
            </a:r>
          </a:p>
          <a:p>
            <a:pPr lvl="0" algn="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여러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사람들과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소통할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수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있습니다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65400" y="7581900"/>
            <a:ext cx="42164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글을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작성하고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댓글을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받는것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만으로도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 </a:t>
            </a:r>
          </a:p>
          <a:p>
            <a:pPr lvl="0" algn="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마일리지가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쌓입니다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.</a:t>
            </a:r>
          </a:p>
          <a:p>
            <a:pPr lvl="0" algn="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간단하게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작성하는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기능을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제공하니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,</a:t>
            </a:r>
          </a:p>
          <a:p>
            <a:pPr lvl="0" algn="r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누구나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거부감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없이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시작할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수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있습니다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16000" y="-457200"/>
            <a:ext cx="20345400" cy="5981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42600" y="3416300"/>
            <a:ext cx="44069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02.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고령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세대의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'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디지털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소외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구제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'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78100" y="6794500"/>
            <a:ext cx="41656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03.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손쉬운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방법으로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'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이익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창출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'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가능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56900" y="7480300"/>
            <a:ext cx="42164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화담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통해서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다양한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세대의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사람들이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그들의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글에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공감하고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댓글을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달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수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있습니다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이러한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과정을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통해서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서로가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서로를</a:t>
            </a:r>
          </a:p>
          <a:p>
            <a:pPr lvl="0" algn="l">
              <a:lnSpc>
                <a:spcPct val="116199"/>
              </a:lnSpc>
            </a:pP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이해하는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계기가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될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>
                <a:solidFill>
                  <a:srgbClr val="1D364A"/>
                </a:solidFill>
                <a:ea typeface="NanumSquareRoundOTF Regular"/>
              </a:rPr>
              <a:t>것입니다</a:t>
            </a:r>
            <a:r>
              <a:rPr lang="en-US" sz="1800" b="0" i="0" u="none" strike="noStrike">
                <a:solidFill>
                  <a:srgbClr val="1D364A"/>
                </a:solidFill>
                <a:latin typeface="NanumSquareRoundOTF Regular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42600" y="6769100"/>
            <a:ext cx="48641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04.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청년세대로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하여금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'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노인계층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인식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 </a:t>
            </a: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개선</a:t>
            </a:r>
            <a:r>
              <a:rPr lang="en-US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latin typeface="Nanum DdarEGeEomMaGa"/>
              </a:rPr>
              <a:t>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-11938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400" y="6769100"/>
            <a:ext cx="2590800" cy="295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29000" y="-254929"/>
            <a:ext cx="22606000" cy="5981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11500" y="3162300"/>
            <a:ext cx="10820400" cy="673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050"/>
              </a:lnSpc>
            </a:pPr>
            <a:r>
              <a:rPr lang="ko-KR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ea typeface="THEBlackjackB"/>
              </a:rPr>
              <a:t>더</a:t>
            </a:r>
            <a:r>
              <a:rPr lang="en-US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latin typeface="THEBlackjackB"/>
              </a:rPr>
              <a:t> </a:t>
            </a:r>
            <a:r>
              <a:rPr lang="ko-KR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ea typeface="THEBlackjackB"/>
              </a:rPr>
              <a:t>이상의</a:t>
            </a:r>
            <a:r>
              <a:rPr lang="en-US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latin typeface="THEBlackjackB"/>
              </a:rPr>
              <a:t> </a:t>
            </a:r>
            <a:r>
              <a:rPr lang="ko-KR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ea typeface="THEBlackjackB"/>
              </a:rPr>
              <a:t>외로움은</a:t>
            </a:r>
            <a:r>
              <a:rPr lang="en-US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latin typeface="THEBlackjackB"/>
              </a:rPr>
              <a:t> </a:t>
            </a:r>
            <a:r>
              <a:rPr lang="ko-KR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ea typeface="THEBlackjackB"/>
              </a:rPr>
              <a:t>그만</a:t>
            </a:r>
            <a:r>
              <a:rPr lang="en-US" sz="3800" b="0" i="0" u="none" strike="noStrike" spc="700">
                <a:solidFill>
                  <a:srgbClr val="A32E21"/>
                </a:solidFill>
                <a:highlight>
                  <a:srgbClr val="FFCD4A"/>
                </a:highlight>
                <a:latin typeface="THEBlackjackB"/>
              </a:rPr>
              <a:t>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54400" y="4445000"/>
            <a:ext cx="10210800" cy="379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저희가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기획한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'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화담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'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을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통해서</a:t>
            </a:r>
          </a:p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독거노인분들이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디지털</a:t>
            </a:r>
            <a:r>
              <a:rPr lang="ko-KR" altLang="en-US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기기를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자연스럽게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접할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뿐만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아니라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,</a:t>
            </a:r>
          </a:p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여러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사람들과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소통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하는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과정을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통해</a:t>
            </a:r>
          </a:p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그들의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altLang="en-US" sz="2700" spc="-100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안녕과 삶을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간접적으로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확인할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수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있습니다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.</a:t>
            </a:r>
          </a:p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매년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증가하는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독거노인</a:t>
            </a:r>
            <a:r>
              <a:rPr lang="ko-KR" altLang="en-US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비율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과</a:t>
            </a:r>
          </a:p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고독사가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 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줄어들기를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바라는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마음에서</a:t>
            </a:r>
          </a:p>
          <a:p>
            <a:pPr lvl="0" algn="ctr">
              <a:lnSpc>
                <a:spcPct val="116199"/>
              </a:lnSpc>
            </a:pP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새로운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소통의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수단이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되기를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2700" b="0" i="0" u="none" strike="noStrike" spc="-100" dirty="0">
                <a:solidFill>
                  <a:srgbClr val="1D364A"/>
                </a:solidFill>
                <a:ea typeface="NanumSquareRoundOTF Regular"/>
              </a:rPr>
              <a:t>바랍니다</a:t>
            </a:r>
            <a:r>
              <a:rPr lang="en-US" sz="2700" b="0" i="0" u="none" strike="noStrike" spc="-100" dirty="0">
                <a:solidFill>
                  <a:srgbClr val="1D364A"/>
                </a:solidFill>
                <a:latin typeface="NanumSquareRoundOTF Regula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-11938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425700"/>
            <a:ext cx="14592300" cy="7010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638300" y="5880100"/>
            <a:ext cx="14541500" cy="8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5410200" y="5854700"/>
            <a:ext cx="6972300" cy="8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48050" y="-457200"/>
            <a:ext cx="22707600" cy="5981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65675" y="3213100"/>
            <a:ext cx="8382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ko-KR" sz="3000" b="1" i="0" u="none" strike="noStrike" spc="100" dirty="0" err="1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노왕주</a:t>
            </a:r>
            <a:endParaRPr lang="ko-KR" sz="3000" b="1" i="0" u="none" strike="noStrike" spc="100" dirty="0">
              <a:solidFill>
                <a:srgbClr val="A32E21"/>
              </a:solidFill>
              <a:highlight>
                <a:srgbClr val="FFCD4A"/>
              </a:highlight>
              <a:ea typeface="Nanum DdarEGeEomMaG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63200" y="4000500"/>
            <a:ext cx="48133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일기</a:t>
            </a: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작성</a:t>
            </a:r>
            <a:r>
              <a:rPr lang="en-US" alt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, </a:t>
            </a: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댓글 쓰기</a:t>
            </a:r>
            <a:endParaRPr lang="ko-KR" sz="1800" b="0" i="0" u="none" strike="noStrike" dirty="0">
              <a:solidFill>
                <a:srgbClr val="1D364A"/>
              </a:solidFill>
              <a:ea typeface="NanumSquareRoundOTF Regular"/>
            </a:endParaRPr>
          </a:p>
          <a:p>
            <a:pPr lvl="0" algn="ctr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댓글작성시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일기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작성자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마일리</a:t>
            </a: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지 적립</a:t>
            </a:r>
            <a:endParaRPr lang="en-US" sz="1800" b="0" i="0" u="none" strike="noStrike" dirty="0">
              <a:solidFill>
                <a:srgbClr val="1D364A"/>
              </a:solidFill>
              <a:latin typeface="NanumSquareRoundOTF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048000" y="4508499"/>
            <a:ext cx="4470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마일리지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상품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구매</a:t>
            </a:r>
            <a:r>
              <a:rPr lang="en-US" altLang="ko-KR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 </a:t>
            </a:r>
            <a:r>
              <a:rPr lang="ko-KR" altLang="en-US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및 조회</a:t>
            </a:r>
            <a:r>
              <a:rPr lang="en-US" altLang="ko-KR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,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등록</a:t>
            </a:r>
            <a:br>
              <a:rPr lang="en-US" altLang="ko-KR" sz="1800" b="0" i="0" u="none" strike="noStrike" dirty="0">
                <a:solidFill>
                  <a:srgbClr val="1D364A"/>
                </a:solidFill>
                <a:ea typeface="NanumSquareRoundOTF Regular"/>
              </a:rPr>
            </a:b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마일리지 </a:t>
            </a:r>
            <a:r>
              <a:rPr lang="ko-KR" altLang="en-US" sz="1800" b="0" i="0" u="none" strike="noStrike" dirty="0" err="1">
                <a:solidFill>
                  <a:srgbClr val="1D364A"/>
                </a:solidFill>
                <a:ea typeface="NanumSquareRoundOTF Regular"/>
              </a:rPr>
              <a:t>샾</a:t>
            </a: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 구현</a:t>
            </a:r>
            <a:endParaRPr lang="ko-KR" sz="1800" b="0" i="0" u="none" strike="noStrike" dirty="0">
              <a:solidFill>
                <a:srgbClr val="1D364A"/>
              </a:solidFill>
              <a:ea typeface="NanumSquareRoundOTF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76575" y="7250112"/>
            <a:ext cx="42164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DB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설계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및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관리</a:t>
            </a:r>
          </a:p>
          <a:p>
            <a:pPr lvl="0" algn="ctr">
              <a:lnSpc>
                <a:spcPct val="116199"/>
              </a:lnSpc>
            </a:pPr>
            <a:r>
              <a:rPr lang="ko-KR" altLang="en-US" dirty="0">
                <a:solidFill>
                  <a:srgbClr val="1D364A"/>
                </a:solidFill>
                <a:ea typeface="NanumSquareRoundOTF Regular"/>
              </a:rPr>
              <a:t>회원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가입</a:t>
            </a:r>
            <a:r>
              <a:rPr lang="en-US" altLang="ko-KR" dirty="0">
                <a:solidFill>
                  <a:srgbClr val="1D364A"/>
                </a:solidFill>
                <a:ea typeface="NanumSquareRoundOTF Regular"/>
              </a:rPr>
              <a:t>, </a:t>
            </a:r>
            <a:r>
              <a:rPr lang="ko-KR" altLang="en-US" dirty="0">
                <a:solidFill>
                  <a:srgbClr val="1D364A"/>
                </a:solidFill>
                <a:ea typeface="NanumSquareRoundOTF Regular"/>
              </a:rPr>
              <a:t>로그인 및 </a:t>
            </a:r>
            <a:r>
              <a:rPr lang="ko-KR" altLang="en-US" dirty="0" err="1">
                <a:solidFill>
                  <a:srgbClr val="1D364A"/>
                </a:solidFill>
                <a:ea typeface="NanumSquareRoundOTF Regular"/>
              </a:rPr>
              <a:t>로그인유지</a:t>
            </a:r>
            <a:endParaRPr lang="ko-KR" sz="1800" b="0" i="0" u="none" strike="noStrike" dirty="0">
              <a:solidFill>
                <a:srgbClr val="1D364A"/>
              </a:solidFill>
              <a:ea typeface="NanumSquareRoundOTF Regular"/>
            </a:endParaRPr>
          </a:p>
          <a:p>
            <a:pPr lvl="0" algn="ctr">
              <a:lnSpc>
                <a:spcPct val="116199"/>
              </a:lnSpc>
            </a:pPr>
            <a:r>
              <a:rPr lang="ko-KR" sz="1800" b="0" i="0" u="none" strike="noStrike" dirty="0" err="1">
                <a:solidFill>
                  <a:srgbClr val="1D364A"/>
                </a:solidFill>
                <a:ea typeface="NanumSquareRoundOTF Regular"/>
              </a:rPr>
              <a:t>메인화면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유저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마일리</a:t>
            </a: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지 보유현황</a:t>
            </a:r>
            <a:endParaRPr lang="ko-KR" sz="1800" b="0" i="0" u="none" strike="noStrike" dirty="0">
              <a:solidFill>
                <a:srgbClr val="1D364A"/>
              </a:solidFill>
              <a:ea typeface="NanumSquareRoundOTF Regular"/>
            </a:endParaRPr>
          </a:p>
          <a:p>
            <a:pPr lvl="0" algn="ctr">
              <a:lnSpc>
                <a:spcPct val="116199"/>
              </a:lnSpc>
            </a:pPr>
            <a:r>
              <a:rPr lang="ko-KR" sz="1800" b="0" i="0" u="none" strike="noStrike" dirty="0" err="1">
                <a:solidFill>
                  <a:srgbClr val="1D364A"/>
                </a:solidFill>
                <a:ea typeface="NanumSquareRoundOTF Regular"/>
              </a:rPr>
              <a:t>메인화면</a:t>
            </a:r>
            <a:r>
              <a:rPr lang="ko-KR" altLang="en-US" dirty="0" err="1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의</a:t>
            </a:r>
            <a:r>
              <a:rPr lang="ko-KR" altLang="en-US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 관리자화면 구분</a:t>
            </a:r>
            <a:endParaRPr lang="en-US" altLang="ko-KR" dirty="0">
              <a:solidFill>
                <a:srgbClr val="1D364A"/>
              </a:solidFill>
              <a:latin typeface="NanumSquareRoundOTF Regular"/>
              <a:ea typeface="NanumSquareRoundOTF Regular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 </a:t>
            </a:r>
            <a:r>
              <a:rPr lang="ko-KR" altLang="en-US" dirty="0" err="1">
                <a:solidFill>
                  <a:srgbClr val="1D364A"/>
                </a:solidFill>
                <a:latin typeface="NanumSquareRoundOTF Regular"/>
                <a:ea typeface="NanumSquareRoundOTF Regular"/>
              </a:rPr>
              <a:t>좋아요기능</a:t>
            </a:r>
            <a:r>
              <a:rPr lang="en-US" altLang="ko-KR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, </a:t>
            </a:r>
            <a:r>
              <a:rPr lang="ko-KR" altLang="en-US" dirty="0">
                <a:solidFill>
                  <a:srgbClr val="1D364A"/>
                </a:solidFill>
                <a:latin typeface="NanumSquareRoundOTF Regular"/>
                <a:ea typeface="NanumSquareRoundOTF Regular"/>
              </a:rPr>
              <a:t>관리자 페이지</a:t>
            </a:r>
            <a:endParaRPr lang="ko-KR" sz="1800" b="0" i="0" u="none" strike="noStrike" dirty="0">
              <a:solidFill>
                <a:srgbClr val="1D364A"/>
              </a:solidFill>
              <a:ea typeface="NanumSquareRoundOTF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66400" y="3213100"/>
            <a:ext cx="44069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sz="3000" b="1" i="0" u="none" strike="noStrike" spc="10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이경준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58475" y="7766050"/>
            <a:ext cx="42164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책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구매</a:t>
            </a:r>
            <a:r>
              <a:rPr lang="en-US" alt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(</a:t>
            </a: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결제 </a:t>
            </a:r>
            <a:r>
              <a:rPr lang="en-US" alt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API)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화면</a:t>
            </a:r>
            <a:r>
              <a:rPr lang="en-US" sz="1800" b="0" i="0" u="none" strike="noStrike" dirty="0">
                <a:solidFill>
                  <a:srgbClr val="1D364A"/>
                </a:solidFill>
                <a:latin typeface="NanumSquareRoundOTF Regular"/>
              </a:rPr>
              <a:t>, </a:t>
            </a:r>
            <a:r>
              <a:rPr 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현금결제기능구현</a:t>
            </a:r>
            <a:br>
              <a:rPr lang="en-US" altLang="ko-KR" sz="1800" b="0" i="0" u="none" strike="noStrike" dirty="0">
                <a:solidFill>
                  <a:srgbClr val="1D364A"/>
                </a:solidFill>
                <a:ea typeface="NanumSquareRoundOTF Regular"/>
              </a:rPr>
            </a:b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베스트셀러 관리</a:t>
            </a:r>
            <a:r>
              <a:rPr lang="en-US" altLang="ko-KR" sz="1800" b="0" i="0" u="none" strike="noStrike" dirty="0">
                <a:solidFill>
                  <a:srgbClr val="1D364A"/>
                </a:solidFill>
                <a:ea typeface="NanumSquareRoundOTF Regular"/>
              </a:rPr>
              <a:t>, </a:t>
            </a:r>
            <a:r>
              <a:rPr lang="ko-KR" altLang="en-US" sz="1800" b="0" i="0" u="none" strike="noStrike" dirty="0" err="1">
                <a:solidFill>
                  <a:srgbClr val="1D364A"/>
                </a:solidFill>
                <a:ea typeface="NanumSquareRoundOTF Regular"/>
              </a:rPr>
              <a:t>메인화면</a:t>
            </a:r>
            <a:r>
              <a:rPr lang="ko-KR" altLang="en-US" sz="1800" b="0" i="0" u="none" strike="noStrike" dirty="0">
                <a:solidFill>
                  <a:srgbClr val="1D364A"/>
                </a:solidFill>
                <a:ea typeface="NanumSquareRoundOTF Regular"/>
              </a:rPr>
              <a:t> 구현</a:t>
            </a:r>
            <a:endParaRPr lang="ko-KR" sz="1800" b="0" i="0" u="none" strike="noStrike" dirty="0">
              <a:solidFill>
                <a:srgbClr val="1D364A"/>
              </a:solidFill>
              <a:ea typeface="NanumSquareRoundOTF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360025" y="6556375"/>
            <a:ext cx="48641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sz="3000" b="1" i="0" u="none" strike="noStrike" spc="100" dirty="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강지영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D5370A20-7B68-41E2-BF4E-DD1A83457675}"/>
              </a:ext>
            </a:extLst>
          </p:cNvPr>
          <p:cNvSpPr txBox="1"/>
          <p:nvPr/>
        </p:nvSpPr>
        <p:spPr>
          <a:xfrm>
            <a:off x="4765675" y="6397624"/>
            <a:ext cx="8382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2800"/>
              </a:lnSpc>
            </a:pPr>
            <a:r>
              <a:rPr lang="ko-KR" altLang="en-US" sz="3000" b="1" spc="100" dirty="0">
                <a:solidFill>
                  <a:srgbClr val="A32E21"/>
                </a:solidFill>
                <a:highlight>
                  <a:srgbClr val="FFCD4A"/>
                </a:highlight>
                <a:ea typeface="Nanum DdarEGeEomMaGa"/>
              </a:rPr>
              <a:t>서영수</a:t>
            </a:r>
            <a:endParaRPr lang="ko-KR" sz="3000" b="1" i="0" u="none" strike="noStrike" spc="100" dirty="0">
              <a:solidFill>
                <a:srgbClr val="A32E21"/>
              </a:solidFill>
              <a:highlight>
                <a:srgbClr val="FFCD4A"/>
              </a:highlight>
              <a:ea typeface="Nanum DdarEGeEomMaG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00" y="-1193800"/>
            <a:ext cx="18897600" cy="1179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2400" y="6769100"/>
            <a:ext cx="2590800" cy="2959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 rot="5400000">
            <a:off x="16687800" y="1638300"/>
            <a:ext cx="2413000" cy="342900"/>
          </a:xfrm>
          <a:prstGeom prst="rect">
            <a:avLst/>
          </a:prstGeom>
          <a:effectLst>
            <a:outerShdw dist="12700" dir="8100000">
              <a:srgbClr val="FFF8EB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000" b="0" i="0" u="none" strike="noStrike">
                <a:solidFill>
                  <a:srgbClr val="1D364A"/>
                </a:solidFill>
                <a:latin typeface="Rounded Mplus 1c Bold"/>
              </a:rPr>
              <a:t>CHAPTER 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9249E-01CB-4BDE-B2B7-EC669EA7AAA1}"/>
              </a:ext>
            </a:extLst>
          </p:cNvPr>
          <p:cNvSpPr txBox="1"/>
          <p:nvPr/>
        </p:nvSpPr>
        <p:spPr>
          <a:xfrm>
            <a:off x="7127776" y="4495428"/>
            <a:ext cx="472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hlinkClick r:id="rId5"/>
              </a:rPr>
              <a:t>시연영상</a:t>
            </a:r>
            <a:endParaRPr lang="ko-KR" altLang="en-US" sz="5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34739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1700" y="-1562100"/>
            <a:ext cx="19240500" cy="1202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5100" y="-152400"/>
            <a:ext cx="8623300" cy="11036300"/>
          </a:xfrm>
          <a:prstGeom prst="rect">
            <a:avLst/>
          </a:prstGeom>
          <a:effectLst>
            <a:outerShdw blurRad="1202230" dist="66300" dir="2700000">
              <a:srgbClr val="A32E21">
                <a:alpha val="36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19700" y="2070100"/>
            <a:ext cx="27152600" cy="8077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559300" y="5626100"/>
            <a:ext cx="8712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2050"/>
              </a:lnSpc>
            </a:pPr>
            <a:r>
              <a:rPr lang="ko-KR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화</a:t>
            </a:r>
            <a:r>
              <a:rPr lang="en-US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  </a:t>
            </a:r>
            <a:r>
              <a:rPr lang="ko-KR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담</a:t>
            </a:r>
            <a:r>
              <a:rPr lang="en-US" altLang="ko-KR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(</a:t>
            </a:r>
            <a:r>
              <a:rPr lang="ko-KR" altLang="en-US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花談</a:t>
            </a:r>
            <a:r>
              <a:rPr lang="en-US" altLang="ko-KR" sz="4000" b="0" i="0" u="none" strike="noStrike" spc="700" dirty="0">
                <a:solidFill>
                  <a:srgbClr val="A32E21"/>
                </a:solidFill>
                <a:latin typeface="NanumSquareRoundOTF ExtraBold" panose="020B0600000101010101" charset="-127"/>
                <a:ea typeface="NanumSquareRoundOTF ExtraBold" panose="020B0600000101010101" charset="-127"/>
              </a:rPr>
              <a:t>)</a:t>
            </a:r>
            <a:endParaRPr lang="ko-KR" sz="4000" b="0" i="0" u="none" strike="noStrike" spc="700" dirty="0">
              <a:solidFill>
                <a:srgbClr val="A32E21"/>
              </a:solidFill>
              <a:latin typeface="NanumSquareRoundOTF ExtraBold" panose="020B0600000101010101" charset="-127"/>
              <a:ea typeface="NanumSquareRoundOTF ExtraBold" panose="020B0600000101010101" charset="-127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5219700" y="8851900"/>
            <a:ext cx="7404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노왕주</a:t>
            </a:r>
            <a:r>
              <a:rPr lang="en-US" sz="2400" b="0" i="0" u="none" strike="noStrike">
                <a:solidFill>
                  <a:srgbClr val="1D364A"/>
                </a:solidFill>
                <a:latin typeface="NanumSquareRoundOTF ExtraBold"/>
              </a:rPr>
              <a:t>, </a:t>
            </a: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이경준</a:t>
            </a:r>
            <a:r>
              <a:rPr lang="en-US" sz="2400" b="0" i="0" u="none" strike="noStrike">
                <a:solidFill>
                  <a:srgbClr val="1D364A"/>
                </a:solidFill>
                <a:latin typeface="NanumSquareRoundOTF ExtraBold"/>
              </a:rPr>
              <a:t>, </a:t>
            </a: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서영수</a:t>
            </a:r>
            <a:r>
              <a:rPr lang="en-US" sz="2400" b="0" i="0" u="none" strike="noStrike">
                <a:solidFill>
                  <a:srgbClr val="1D364A"/>
                </a:solidFill>
                <a:latin typeface="NanumSquareRoundOTF ExtraBold"/>
              </a:rPr>
              <a:t>, </a:t>
            </a:r>
            <a:r>
              <a:rPr lang="ko-KR" sz="2400" b="0" i="0" u="none" strike="noStrike">
                <a:solidFill>
                  <a:srgbClr val="1D364A"/>
                </a:solidFill>
                <a:ea typeface="NanumSquareRoundOTF ExtraBold"/>
              </a:rPr>
              <a:t>강지영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00" y="8001000"/>
            <a:ext cx="546100" cy="546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305800" y="7950200"/>
            <a:ext cx="5461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3400" b="0" i="0" u="none" strike="noStrike" spc="700">
                <a:solidFill>
                  <a:srgbClr val="F6A8A2"/>
                </a:solidFill>
                <a:latin typeface="NanumSquareRoundOTF ExtraBold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0000" y="7937500"/>
            <a:ext cx="7239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sz="3800" b="0" i="0" u="none" strike="noStrike" spc="800">
                <a:solidFill>
                  <a:srgbClr val="1D364A"/>
                </a:solidFill>
                <a:ea typeface="NanumSquareRoundOTF ExtraBold"/>
              </a:rPr>
              <a:t>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project3최종(24.10.08)</Template>
  <TotalTime>4</TotalTime>
  <Words>601</Words>
  <Application>Microsoft Office PowerPoint</Application>
  <PresentationFormat>사용자 지정</PresentationFormat>
  <Paragraphs>95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NanumSquareRoundOTF ExtraBold</vt:lpstr>
      <vt:lpstr>Calibri</vt:lpstr>
      <vt:lpstr>맑은 고딕</vt:lpstr>
      <vt:lpstr>THEBlackjackB</vt:lpstr>
      <vt:lpstr>Arial</vt:lpstr>
      <vt:lpstr>Rounded Mplus 1c Bold</vt:lpstr>
      <vt:lpstr>Nanum DdarEGeEomMaGa</vt:lpstr>
      <vt:lpstr>NanumSquareRoundOTF Light</vt:lpstr>
      <vt:lpstr>NanumSquareRoundOTF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왕주 노</dc:creator>
  <cp:lastModifiedBy>왕주 노</cp:lastModifiedBy>
  <cp:revision>6</cp:revision>
  <dcterms:created xsi:type="dcterms:W3CDTF">2024-10-15T06:13:10Z</dcterms:created>
  <dcterms:modified xsi:type="dcterms:W3CDTF">2024-10-15T06:18:16Z</dcterms:modified>
</cp:coreProperties>
</file>